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Open Sauce" panose="020B0604020202020204" charset="0"/>
      <p:regular r:id="rId13"/>
    </p:embeddedFont>
    <p:embeddedFont>
      <p:font typeface="Open Sauce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8750" y="2175759"/>
            <a:ext cx="15430500" cy="3479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Walmart Customer Retention Analytics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208613" y="6317742"/>
            <a:ext cx="11870774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~ By Rishav Vishnoi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8750" y="1295400"/>
            <a:ext cx="15430500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80"/>
              </a:lnSpc>
              <a:spcBef>
                <a:spcPct val="0"/>
              </a:spcBef>
            </a:pPr>
            <a:r>
              <a:rPr lang="en-US" sz="6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Introduction: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28750" y="3108484"/>
            <a:ext cx="15284929" cy="493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Walmart faces increasing competition from Amazon and Target in the retail space, making customer retention critical for sustained growth.</a:t>
            </a:r>
          </a:p>
          <a:p>
            <a:pPr marL="755647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Operates across hypermarkets, discount stores, and e-commerce platforms worldwide.</a:t>
            </a:r>
          </a:p>
          <a:p>
            <a:pPr marL="755647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Collects vast customer data but lacks analytical depth for retention strategies.</a:t>
            </a:r>
          </a:p>
          <a:p>
            <a:pPr marL="755647" lvl="1" indent="-377824" algn="l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Requires actionable insights to understand churn drivers and loyalty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8750" y="1314450"/>
            <a:ext cx="15430500" cy="995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20"/>
              </a:lnSpc>
              <a:spcBef>
                <a:spcPct val="0"/>
              </a:spcBef>
            </a:pPr>
            <a:r>
              <a:rPr lang="en-US" sz="58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28750" y="3108484"/>
            <a:ext cx="15284929" cy="431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Walmart's current reporting system cannot effectively answer critical retention questions:</a:t>
            </a:r>
          </a:p>
          <a:p>
            <a:pPr marL="755647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Why are customers churning across different segments?</a:t>
            </a:r>
          </a:p>
          <a:p>
            <a:pPr marL="755647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How to identify loyal versus at-risk customers?</a:t>
            </a:r>
          </a:p>
          <a:p>
            <a:pPr marL="755647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What is the impact of loyalty programs and promotions on retention?</a:t>
            </a:r>
          </a:p>
          <a:p>
            <a:pPr marL="755647" lvl="1" indent="-377824" algn="l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Which regions and channels need targeted retention strategies?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73982" y="1028700"/>
            <a:ext cx="12685318" cy="8229600"/>
          </a:xfrm>
          <a:custGeom>
            <a:avLst/>
            <a:gdLst/>
            <a:ahLst/>
            <a:cxnLst/>
            <a:rect l="l" t="t" r="r" b="b"/>
            <a:pathLst>
              <a:path w="12685318" h="8229600">
                <a:moveTo>
                  <a:pt x="0" y="0"/>
                </a:moveTo>
                <a:lnTo>
                  <a:pt x="12685318" y="0"/>
                </a:lnTo>
                <a:lnTo>
                  <a:pt x="1268531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914400"/>
            <a:ext cx="3421884" cy="995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20"/>
              </a:lnSpc>
              <a:spcBef>
                <a:spcPct val="0"/>
              </a:spcBef>
            </a:pPr>
            <a:r>
              <a:rPr lang="en-US" sz="58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KPIs: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50584" y="1028700"/>
            <a:ext cx="12808716" cy="8229600"/>
          </a:xfrm>
          <a:custGeom>
            <a:avLst/>
            <a:gdLst/>
            <a:ahLst/>
            <a:cxnLst/>
            <a:rect l="l" t="t" r="r" b="b"/>
            <a:pathLst>
              <a:path w="12808716" h="8229600">
                <a:moveTo>
                  <a:pt x="0" y="0"/>
                </a:moveTo>
                <a:lnTo>
                  <a:pt x="12808716" y="0"/>
                </a:lnTo>
                <a:lnTo>
                  <a:pt x="1280871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914400"/>
            <a:ext cx="3421884" cy="2024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20"/>
              </a:lnSpc>
              <a:spcBef>
                <a:spcPct val="0"/>
              </a:spcBef>
            </a:pPr>
            <a:r>
              <a:rPr lang="en-US" sz="58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Loyalty     Impact: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85655" y="1087583"/>
            <a:ext cx="12969392" cy="8170717"/>
          </a:xfrm>
          <a:custGeom>
            <a:avLst/>
            <a:gdLst/>
            <a:ahLst/>
            <a:cxnLst/>
            <a:rect l="l" t="t" r="r" b="b"/>
            <a:pathLst>
              <a:path w="12969392" h="8170717">
                <a:moveTo>
                  <a:pt x="0" y="0"/>
                </a:moveTo>
                <a:lnTo>
                  <a:pt x="12969392" y="0"/>
                </a:lnTo>
                <a:lnTo>
                  <a:pt x="12969392" y="8170717"/>
                </a:lnTo>
                <a:lnTo>
                  <a:pt x="0" y="81707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914400"/>
            <a:ext cx="3421884" cy="3053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20"/>
              </a:lnSpc>
            </a:pPr>
            <a:r>
              <a:rPr lang="en-US" sz="58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Store /</a:t>
            </a:r>
          </a:p>
          <a:p>
            <a:pPr algn="l">
              <a:lnSpc>
                <a:spcPts val="8120"/>
              </a:lnSpc>
            </a:pPr>
            <a:r>
              <a:rPr lang="en-US" sz="58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Channel</a:t>
            </a:r>
          </a:p>
          <a:p>
            <a:pPr marL="0" lvl="0" indent="0" algn="l">
              <a:lnSpc>
                <a:spcPts val="8120"/>
              </a:lnSpc>
              <a:spcBef>
                <a:spcPct val="0"/>
              </a:spcBef>
            </a:pPr>
            <a:r>
              <a:rPr lang="en-US" sz="58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Insights: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88966" y="1087583"/>
            <a:ext cx="12570334" cy="8170717"/>
          </a:xfrm>
          <a:custGeom>
            <a:avLst/>
            <a:gdLst/>
            <a:ahLst/>
            <a:cxnLst/>
            <a:rect l="l" t="t" r="r" b="b"/>
            <a:pathLst>
              <a:path w="12570334" h="8170717">
                <a:moveTo>
                  <a:pt x="0" y="0"/>
                </a:moveTo>
                <a:lnTo>
                  <a:pt x="12570334" y="0"/>
                </a:lnTo>
                <a:lnTo>
                  <a:pt x="12570334" y="8170717"/>
                </a:lnTo>
                <a:lnTo>
                  <a:pt x="0" y="81707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 rot="-5400000">
            <a:off x="-1356664" y="4085976"/>
            <a:ext cx="7249640" cy="125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19"/>
              </a:lnSpc>
              <a:spcBef>
                <a:spcPct val="0"/>
              </a:spcBef>
            </a:pPr>
            <a:r>
              <a:rPr lang="en-US" sz="72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Segmentation: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8750" y="1314450"/>
            <a:ext cx="15430500" cy="995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20"/>
              </a:lnSpc>
              <a:spcBef>
                <a:spcPct val="0"/>
              </a:spcBef>
            </a:pPr>
            <a:r>
              <a:rPr lang="en-US" sz="58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Finding 1: Critical Churn Patterns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28750" y="3108484"/>
            <a:ext cx="15284929" cy="493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7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49.7% overall churn rate indicates significant retention challenges across all segments.</a:t>
            </a:r>
          </a:p>
          <a:p>
            <a:pPr marL="755647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Elite tier has highest churn (55%) despite premium benefits - program value not meeting expectations.</a:t>
            </a:r>
          </a:p>
          <a:p>
            <a:pPr marL="755647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Online channel shows 53.5% churn vs 45.5% for stores - digital experience needs improvement.</a:t>
            </a:r>
          </a:p>
          <a:p>
            <a:pPr marL="755647" lvl="1" indent="-377824" algn="l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West region leads churn at 60% followed by Central (58%) - regional strategy gaps evident.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8750" y="1314450"/>
            <a:ext cx="15830550" cy="2024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20"/>
              </a:lnSpc>
              <a:spcBef>
                <a:spcPct val="0"/>
              </a:spcBef>
            </a:pPr>
            <a:r>
              <a:rPr lang="en-US" sz="58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Finding 2: Loyalty Program Inefficiencies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28750" y="3754418"/>
            <a:ext cx="15284929" cy="371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7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Low redemption rates across all tiers - customers earn points but don't redeem (Premium: 171K earned vs 24K redeemed).</a:t>
            </a:r>
          </a:p>
          <a:p>
            <a:pPr marL="755647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Basic tier shows highest CLV (35K) despite being lowest tier - value proposition misalignment.</a:t>
            </a:r>
          </a:p>
          <a:p>
            <a:pPr marL="755647" lvl="1" indent="-377824" algn="l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Promotions show neutral impact - 50/50 split suggests they're not driving incremental retention.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8750" y="1314450"/>
            <a:ext cx="16172128" cy="995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20"/>
              </a:lnSpc>
              <a:spcBef>
                <a:spcPct val="0"/>
              </a:spcBef>
            </a:pPr>
            <a:r>
              <a:rPr lang="en-US" sz="58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 &amp; Next Steps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28750" y="3108484"/>
            <a:ext cx="15284929" cy="493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dashboard reveals significant opportunities to improve customer retention through targeted interventions:</a:t>
            </a:r>
          </a:p>
          <a:p>
            <a:pPr marL="755647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Address Elite tier churn with enhanced value proposition.</a:t>
            </a:r>
          </a:p>
          <a:p>
            <a:pPr marL="755647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Boost loyalty program engagement through simplified redemption.</a:t>
            </a:r>
          </a:p>
          <a:p>
            <a:pPr marL="755647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Implement region-specific retention strategies for West and Central.</a:t>
            </a:r>
          </a:p>
          <a:p>
            <a:pPr marL="755647" lvl="1" indent="-377824" algn="l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Improve online channel experience to match in-store retention rates.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5209" y="3890038"/>
            <a:ext cx="15430500" cy="171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0"/>
              </a:lnSpc>
              <a:spcBef>
                <a:spcPct val="0"/>
              </a:spcBef>
            </a:pPr>
            <a:r>
              <a:rPr lang="en-US" sz="10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319</Words>
  <Application>Microsoft Office PowerPoint</Application>
  <PresentationFormat>Custom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Arial</vt:lpstr>
      <vt:lpstr>Open Sauce</vt:lpstr>
      <vt:lpstr>Open Sauce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Thank You</dc:title>
  <cp:lastModifiedBy>Rishav  Vishnoi</cp:lastModifiedBy>
  <cp:revision>2</cp:revision>
  <dcterms:created xsi:type="dcterms:W3CDTF">2006-08-16T00:00:00Z</dcterms:created>
  <dcterms:modified xsi:type="dcterms:W3CDTF">2025-11-21T18:29:22Z</dcterms:modified>
  <dc:identifier>DAG2zT9V8qM</dc:identifier>
</cp:coreProperties>
</file>